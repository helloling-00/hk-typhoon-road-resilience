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" y="10972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AAAA"/>
                </a:solidFill>
              </a:rPr>
              <a:t>05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5448"/>
            <a:ext cx="1810512" cy="365760"/>
          </a:xfrm>
          <a:prstGeom prst="rect">
            <a:avLst/>
          </a:prstGeom>
          <a:solidFill>
            <a:srgbClr val="FFC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64592"/>
            <a:ext cx="17190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A1A2E"/>
                </a:solidFill>
              </a:rPr>
              <a:t>RQ1 · RQ2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04872" y="91440"/>
            <a:ext cx="961948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Pre-Event: S8 Is the True Behavioural Trigger</a:t>
            </a:r>
          </a:p>
        </p:txBody>
      </p:sp>
      <p:sp>
        <p:nvSpPr>
          <p:cNvPr id="8" name="Rectangle 7"/>
          <p:cNvSpPr/>
          <p:nvPr/>
        </p:nvSpPr>
        <p:spPr>
          <a:xfrm>
            <a:off x="182880" y="777240"/>
            <a:ext cx="11795760" cy="2880360"/>
          </a:xfrm>
          <a:prstGeom prst="rect">
            <a:avLst/>
          </a:prstGeom>
          <a:solidFill>
            <a:srgbClr val="16213E"/>
          </a:solidFill>
          <a:ln w="12700">
            <a:solidFill>
              <a:srgbClr val="0F8B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图47_速度形状对比_米娜vs叶加沙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822960"/>
            <a:ext cx="11704320" cy="27889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20040" y="795528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F8B8D"/>
                </a:solidFill>
              </a:rPr>
              <a:t>A  Mina (no S8): all-day elevated speeds, including midday  —  Yagiasha (S8+): midday dip ONLY on Sep 23 (pre-S8)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82880" y="3794760"/>
            <a:ext cx="5760720" cy="2743200"/>
          </a:xfrm>
          <a:prstGeom prst="rect">
            <a:avLst/>
          </a:prstGeom>
          <a:solidFill>
            <a:srgbClr val="16213E"/>
          </a:solidFill>
          <a:ln w="12700">
            <a:solidFill>
              <a:srgbClr val="0F8B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图43b_preS8_sur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3840480"/>
            <a:ext cx="5669280" cy="265176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320040" y="3813048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F8B8D"/>
                </a:solidFill>
              </a:rPr>
              <a:t>B  Yagiasha Sep 23: Pre-S8 dip → S8 clearance in detail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63640" y="3794760"/>
            <a:ext cx="5715000" cy="2743200"/>
          </a:xfrm>
          <a:prstGeom prst="rect">
            <a:avLst/>
          </a:prstGeom>
          <a:solidFill>
            <a:srgbClr val="16213E"/>
          </a:solidFill>
          <a:ln w="12700">
            <a:solidFill>
              <a:srgbClr val="0F8B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3867912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C800"/>
                </a:solidFill>
              </a:rPr>
              <a:t>Key Evidence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46520" y="4279392"/>
            <a:ext cx="54864" cy="54864"/>
          </a:xfrm>
          <a:prstGeom prst="rect">
            <a:avLst/>
          </a:prstGeom>
          <a:solidFill>
            <a:srgbClr val="0F8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29400" y="425196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F8B8D"/>
                </a:solidFill>
              </a:rPr>
              <a:t>Mina (max S3, no S8)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29400" y="4453128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5F5F5"/>
                </a:solidFill>
              </a:rPr>
              <a:t>Sep 18–19 midday: speeds +0.005 to +0.015 above baseline
→ No congestion surge; demand already suppressed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46520" y="5056632"/>
            <a:ext cx="54864" cy="54864"/>
          </a:xfrm>
          <a:prstGeom prst="rect">
            <a:avLst/>
          </a:prstGeom>
          <a:solidFill>
            <a:srgbClr val="0F8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29400" y="502920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F8B8D"/>
                </a:solidFill>
              </a:rPr>
              <a:t>Yagiasha (S8 raised 14:20)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29400" y="5230368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5F5F5"/>
                </a:solidFill>
              </a:rPr>
              <a:t>Sep 23 midday: speed dips to −0.010 at 13:00
→ 31.3% roads slower, system-wide last-minute rush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46520" y="5833872"/>
            <a:ext cx="54864" cy="54864"/>
          </a:xfrm>
          <a:prstGeom prst="rect">
            <a:avLst/>
          </a:prstGeom>
          <a:solidFill>
            <a:srgbClr val="0F8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29400" y="580644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F8B8D"/>
                </a:solidFill>
              </a:rPr>
              <a:t>5-hour swing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29400" y="6007607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5F5F5"/>
                </a:solidFill>
              </a:rPr>
              <a:t>−0.010 (13:00) → +0.045 (19:30) after S8
→ S8 is the behavioural tipping point, not S1 or S3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656832"/>
            <a:ext cx="12188952" cy="36576"/>
          </a:xfrm>
          <a:prstGeom prst="rect">
            <a:avLst/>
          </a:prstGeom>
          <a:solidFill>
            <a:srgbClr val="0F8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74320" y="6702552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AAAAAA"/>
                </a:solidFill>
              </a:rPr>
              <a:t>Pre-event phase  |  S3→S8 anticipatory window  |  S8 raised at 14:20 Sep 23  |  Mina (no S8) = no midday dip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